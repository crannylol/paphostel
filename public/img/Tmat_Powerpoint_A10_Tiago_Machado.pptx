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Ubuntu Bold" charset="1" panose="020B0804030602030204"/>
      <p:regular r:id="rId22"/>
    </p:embeddedFont>
    <p:embeddedFont>
      <p:font typeface="Inter" charset="1" panose="020B0502030000000004"/>
      <p:regular r:id="rId23"/>
    </p:embeddedFont>
    <p:embeddedFont>
      <p:font typeface="Helvetica World" charset="1" panose="020B0500040000020004"/>
      <p:regular r:id="rId24"/>
    </p:embeddedFont>
    <p:embeddedFont>
      <p:font typeface="Inter Bold" charset="1" panose="020B080203000000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15.png" Type="http://schemas.openxmlformats.org/officeDocument/2006/relationships/image"/><Relationship Id="rId20" Target="../media/image13.png" Type="http://schemas.openxmlformats.org/officeDocument/2006/relationships/image"/><Relationship Id="rId21" Target="../media/image14.svg" Type="http://schemas.openxmlformats.org/officeDocument/2006/relationships/image"/><Relationship Id="rId22" Target="../media/image55.png" Type="http://schemas.openxmlformats.org/officeDocument/2006/relationships/image"/><Relationship Id="rId23" Target="../media/image56.sv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15.png" Type="http://schemas.openxmlformats.org/officeDocument/2006/relationships/image"/><Relationship Id="rId20" Target="../media/image13.png" Type="http://schemas.openxmlformats.org/officeDocument/2006/relationships/image"/><Relationship Id="rId21" Target="../media/image14.svg" Type="http://schemas.openxmlformats.org/officeDocument/2006/relationships/image"/><Relationship Id="rId22" Target="../media/image55.png" Type="http://schemas.openxmlformats.org/officeDocument/2006/relationships/image"/><Relationship Id="rId23" Target="../media/image56.sv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15.png" Type="http://schemas.openxmlformats.org/officeDocument/2006/relationships/image"/><Relationship Id="rId20" Target="../media/image13.png" Type="http://schemas.openxmlformats.org/officeDocument/2006/relationships/image"/><Relationship Id="rId21" Target="../media/image14.svg" Type="http://schemas.openxmlformats.org/officeDocument/2006/relationships/image"/><Relationship Id="rId22" Target="../media/image55.png" Type="http://schemas.openxmlformats.org/officeDocument/2006/relationships/image"/><Relationship Id="rId23" Target="../media/image56.sv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04935" y="604434"/>
            <a:ext cx="6055807" cy="60558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38100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88900" y="60325"/>
              <a:ext cx="6350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33718" y="2042217"/>
            <a:ext cx="9032888" cy="7971524"/>
          </a:xfrm>
          <a:custGeom>
            <a:avLst/>
            <a:gdLst/>
            <a:ahLst/>
            <a:cxnLst/>
            <a:rect r="r" b="b" t="t" l="l"/>
            <a:pathLst>
              <a:path h="7971524" w="9032888">
                <a:moveTo>
                  <a:pt x="0" y="0"/>
                </a:moveTo>
                <a:lnTo>
                  <a:pt x="9032888" y="0"/>
                </a:lnTo>
                <a:lnTo>
                  <a:pt x="9032888" y="7971523"/>
                </a:lnTo>
                <a:lnTo>
                  <a:pt x="0" y="7971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35590" y="3129763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7" y="0"/>
                </a:lnTo>
                <a:lnTo>
                  <a:pt x="3318417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659787" y="2629559"/>
            <a:ext cx="7245597" cy="365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59"/>
              </a:lnSpc>
            </a:pPr>
            <a:r>
              <a:rPr lang="en-US" b="true" sz="8599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Programação linear e Otimização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59787" y="6256551"/>
            <a:ext cx="7245597" cy="1986281"/>
            <a:chOff x="0" y="0"/>
            <a:chExt cx="675856" cy="1852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5856" cy="185277"/>
            </a:xfrm>
            <a:custGeom>
              <a:avLst/>
              <a:gdLst/>
              <a:ahLst/>
              <a:cxnLst/>
              <a:rect r="r" b="b" t="t" l="l"/>
              <a:pathLst>
                <a:path h="185277" w="675856">
                  <a:moveTo>
                    <a:pt x="0" y="0"/>
                  </a:moveTo>
                  <a:lnTo>
                    <a:pt x="675856" y="0"/>
                  </a:lnTo>
                  <a:lnTo>
                    <a:pt x="675856" y="185277"/>
                  </a:lnTo>
                  <a:lnTo>
                    <a:pt x="0" y="185277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75856" cy="213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41317" y="6607072"/>
            <a:ext cx="6482537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0"/>
              </a:lnSpc>
            </a:pPr>
            <a:r>
              <a:rPr lang="en-US" sz="38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Disciplina: Matemática</a:t>
            </a:r>
          </a:p>
          <a:p>
            <a:pPr algn="ctr">
              <a:lnSpc>
                <a:spcPts val="4940"/>
              </a:lnSpc>
            </a:pPr>
            <a:r>
              <a:rPr lang="en-US" sz="38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Módulo: A10-Otimização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178850" y="4425296"/>
            <a:ext cx="1602683" cy="1602683"/>
          </a:xfrm>
          <a:custGeom>
            <a:avLst/>
            <a:gdLst/>
            <a:ahLst/>
            <a:cxnLst/>
            <a:rect r="r" b="b" t="t" l="l"/>
            <a:pathLst>
              <a:path h="1602683" w="1602683">
                <a:moveTo>
                  <a:pt x="0" y="0"/>
                </a:moveTo>
                <a:lnTo>
                  <a:pt x="1602683" y="0"/>
                </a:lnTo>
                <a:lnTo>
                  <a:pt x="1602683" y="1602683"/>
                </a:lnTo>
                <a:lnTo>
                  <a:pt x="0" y="16026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178850" y="4240775"/>
            <a:ext cx="1602683" cy="1602683"/>
          </a:xfrm>
          <a:custGeom>
            <a:avLst/>
            <a:gdLst/>
            <a:ahLst/>
            <a:cxnLst/>
            <a:rect r="r" b="b" t="t" l="l"/>
            <a:pathLst>
              <a:path h="1602683" w="1602683">
                <a:moveTo>
                  <a:pt x="0" y="0"/>
                </a:moveTo>
                <a:lnTo>
                  <a:pt x="1602683" y="0"/>
                </a:lnTo>
                <a:lnTo>
                  <a:pt x="1602683" y="1602683"/>
                </a:lnTo>
                <a:lnTo>
                  <a:pt x="0" y="16026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4178850" y="3973311"/>
            <a:ext cx="1602683" cy="1602683"/>
          </a:xfrm>
          <a:custGeom>
            <a:avLst/>
            <a:gdLst/>
            <a:ahLst/>
            <a:cxnLst/>
            <a:rect r="r" b="b" t="t" l="l"/>
            <a:pathLst>
              <a:path h="1602683" w="1602683">
                <a:moveTo>
                  <a:pt x="0" y="0"/>
                </a:moveTo>
                <a:lnTo>
                  <a:pt x="1602683" y="0"/>
                </a:lnTo>
                <a:lnTo>
                  <a:pt x="1602683" y="1602683"/>
                </a:lnTo>
                <a:lnTo>
                  <a:pt x="0" y="1602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48374" y="790853"/>
            <a:ext cx="446425" cy="707590"/>
          </a:xfrm>
          <a:custGeom>
            <a:avLst/>
            <a:gdLst/>
            <a:ahLst/>
            <a:cxnLst/>
            <a:rect r="r" b="b" t="t" l="l"/>
            <a:pathLst>
              <a:path h="707590" w="446425">
                <a:moveTo>
                  <a:pt x="0" y="0"/>
                </a:moveTo>
                <a:lnTo>
                  <a:pt x="446425" y="0"/>
                </a:lnTo>
                <a:lnTo>
                  <a:pt x="446425" y="707590"/>
                </a:lnTo>
                <a:lnTo>
                  <a:pt x="0" y="7075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6" id="16"/>
          <p:cNvSpPr/>
          <p:nvPr/>
        </p:nvSpPr>
        <p:spPr>
          <a:xfrm>
            <a:off x="-1429255" y="1565795"/>
            <a:ext cx="4590707" cy="4590707"/>
          </a:xfrm>
          <a:prstGeom prst="line">
            <a:avLst/>
          </a:prstGeom>
          <a:ln cap="flat" w="190500">
            <a:solidFill>
              <a:srgbClr val="242424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-500495">
            <a:off x="5503718" y="9295665"/>
            <a:ext cx="555630" cy="55563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096713" y="8617271"/>
            <a:ext cx="660854" cy="641029"/>
          </a:xfrm>
          <a:custGeom>
            <a:avLst/>
            <a:gdLst/>
            <a:ahLst/>
            <a:cxnLst/>
            <a:rect r="r" b="b" t="t" l="l"/>
            <a:pathLst>
              <a:path h="641029" w="660854">
                <a:moveTo>
                  <a:pt x="0" y="0"/>
                </a:moveTo>
                <a:lnTo>
                  <a:pt x="660854" y="0"/>
                </a:lnTo>
                <a:lnTo>
                  <a:pt x="660854" y="641029"/>
                </a:lnTo>
                <a:lnTo>
                  <a:pt x="0" y="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9659787" y="8569646"/>
            <a:ext cx="759951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TIAGO MIGUEL LOBO MACHADO DA SILVA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Nº24 12ºIST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59787" y="9466384"/>
            <a:ext cx="759951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11/03/2026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6609" y="1825084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6" y="0"/>
                </a:lnTo>
                <a:lnTo>
                  <a:pt x="3318416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810172" y="1976623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7" y="0"/>
                </a:lnTo>
                <a:lnTo>
                  <a:pt x="3318417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199167" y="2508861"/>
            <a:ext cx="6173749" cy="8835419"/>
          </a:xfrm>
          <a:custGeom>
            <a:avLst/>
            <a:gdLst/>
            <a:ahLst/>
            <a:cxnLst/>
            <a:rect r="r" b="b" t="t" l="l"/>
            <a:pathLst>
              <a:path h="8835419" w="6173749">
                <a:moveTo>
                  <a:pt x="0" y="0"/>
                </a:moveTo>
                <a:lnTo>
                  <a:pt x="6173749" y="0"/>
                </a:lnTo>
                <a:lnTo>
                  <a:pt x="6173749" y="8835419"/>
                </a:lnTo>
                <a:lnTo>
                  <a:pt x="0" y="8835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740588" y="4109381"/>
            <a:ext cx="5090905" cy="5023327"/>
          </a:xfrm>
          <a:custGeom>
            <a:avLst/>
            <a:gdLst/>
            <a:ahLst/>
            <a:cxnLst/>
            <a:rect r="r" b="b" t="t" l="l"/>
            <a:pathLst>
              <a:path h="5023327" w="5090905">
                <a:moveTo>
                  <a:pt x="0" y="0"/>
                </a:moveTo>
                <a:lnTo>
                  <a:pt x="5090906" y="0"/>
                </a:lnTo>
                <a:lnTo>
                  <a:pt x="5090906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626416" y="6621045"/>
            <a:ext cx="6661584" cy="6637360"/>
          </a:xfrm>
          <a:custGeom>
            <a:avLst/>
            <a:gdLst/>
            <a:ahLst/>
            <a:cxnLst/>
            <a:rect r="r" b="b" t="t" l="l"/>
            <a:pathLst>
              <a:path h="6637360" w="6661584">
                <a:moveTo>
                  <a:pt x="0" y="6637359"/>
                </a:moveTo>
                <a:lnTo>
                  <a:pt x="6661584" y="6637359"/>
                </a:lnTo>
                <a:lnTo>
                  <a:pt x="6661584" y="0"/>
                </a:lnTo>
                <a:lnTo>
                  <a:pt x="0" y="0"/>
                </a:lnTo>
                <a:lnTo>
                  <a:pt x="0" y="66373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25187" y="1504569"/>
            <a:ext cx="660854" cy="641029"/>
          </a:xfrm>
          <a:custGeom>
            <a:avLst/>
            <a:gdLst/>
            <a:ahLst/>
            <a:cxnLst/>
            <a:rect r="r" b="b" t="t" l="l"/>
            <a:pathLst>
              <a:path h="641029" w="660854">
                <a:moveTo>
                  <a:pt x="0" y="0"/>
                </a:moveTo>
                <a:lnTo>
                  <a:pt x="660854" y="0"/>
                </a:lnTo>
                <a:lnTo>
                  <a:pt x="660854" y="641029"/>
                </a:lnTo>
                <a:lnTo>
                  <a:pt x="0" y="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94559" y="3310123"/>
            <a:ext cx="9170467" cy="701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 Programação Lin</a:t>
            </a: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ear é um ramo da otimização matemática que procura maximizar ou minimizar uma função linear, sujeita a um conjunto de restrições também lineares.</a:t>
            </a:r>
          </a:p>
          <a:p>
            <a:pPr algn="l">
              <a:lnSpc>
                <a:spcPts val="3509"/>
              </a:lnSpc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É usada para tomar decisões ótimas quando existem recursos limitados.</a:t>
            </a:r>
          </a:p>
          <a:p>
            <a:pPr algn="l">
              <a:lnSpc>
                <a:spcPts val="3509"/>
              </a:lnSpc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Normalmente pretende‑se: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Maximizar: lucro, produção, rendimento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Minimizar: custos, tempo, desperdício</a:t>
            </a:r>
          </a:p>
          <a:p>
            <a:pPr algn="l">
              <a:lnSpc>
                <a:spcPts val="3509"/>
              </a:lnSpc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Um problema inclui: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Função objetivo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Sistema de restrições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Região admissível (conjunto de soluções possíveis)</a:t>
            </a:r>
          </a:p>
          <a:p>
            <a:pPr algn="l">
              <a:lnSpc>
                <a:spcPts val="3509"/>
              </a:lnSpc>
            </a:pPr>
            <a:r>
              <a:rPr lang="en-US" sz="26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 solução ótima encontra‑se num dos vértices da região admissível.</a:t>
            </a:r>
          </a:p>
          <a:p>
            <a:pPr algn="l">
              <a:lnSpc>
                <a:spcPts val="350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4559" y="797811"/>
            <a:ext cx="724559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Introdução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559" y="1736209"/>
            <a:ext cx="7245597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O que é a Programação linear?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4392" y="2661737"/>
            <a:ext cx="8039217" cy="8039412"/>
            <a:chOff x="0" y="0"/>
            <a:chExt cx="812800" cy="812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20"/>
            </a:xfrm>
            <a:custGeom>
              <a:avLst/>
              <a:gdLst/>
              <a:ahLst/>
              <a:cxnLst/>
              <a:rect r="r" b="b" t="t" l="l"/>
              <a:pathLst>
                <a:path h="812820" w="812800">
                  <a:moveTo>
                    <a:pt x="406400" y="0"/>
                  </a:moveTo>
                  <a:cubicBezTo>
                    <a:pt x="181951" y="0"/>
                    <a:pt x="0" y="181956"/>
                    <a:pt x="0" y="406410"/>
                  </a:cubicBezTo>
                  <a:cubicBezTo>
                    <a:pt x="0" y="630864"/>
                    <a:pt x="181951" y="812820"/>
                    <a:pt x="406400" y="812820"/>
                  </a:cubicBezTo>
                  <a:cubicBezTo>
                    <a:pt x="630849" y="812820"/>
                    <a:pt x="812800" y="630864"/>
                    <a:pt x="812800" y="406410"/>
                  </a:cubicBezTo>
                  <a:cubicBezTo>
                    <a:pt x="812800" y="1819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7"/>
              <a:ext cx="660400" cy="68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4231" y="1238475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2" y="0"/>
                </a:lnTo>
                <a:lnTo>
                  <a:pt x="492272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53512" y="1115907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3" y="0"/>
                </a:lnTo>
                <a:lnTo>
                  <a:pt x="492273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70656" y="907176"/>
            <a:ext cx="550257" cy="872166"/>
          </a:xfrm>
          <a:custGeom>
            <a:avLst/>
            <a:gdLst/>
            <a:ahLst/>
            <a:cxnLst/>
            <a:rect r="r" b="b" t="t" l="l"/>
            <a:pathLst>
              <a:path h="872166" w="550257">
                <a:moveTo>
                  <a:pt x="0" y="0"/>
                </a:moveTo>
                <a:lnTo>
                  <a:pt x="550257" y="0"/>
                </a:lnTo>
                <a:lnTo>
                  <a:pt x="550257" y="872165"/>
                </a:lnTo>
                <a:lnTo>
                  <a:pt x="0" y="872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000747" y="4921221"/>
            <a:ext cx="6286507" cy="3520444"/>
          </a:xfrm>
          <a:custGeom>
            <a:avLst/>
            <a:gdLst/>
            <a:ahLst/>
            <a:cxnLst/>
            <a:rect r="r" b="b" t="t" l="l"/>
            <a:pathLst>
              <a:path h="3520444" w="6286507">
                <a:moveTo>
                  <a:pt x="0" y="0"/>
                </a:moveTo>
                <a:lnTo>
                  <a:pt x="6286506" y="0"/>
                </a:lnTo>
                <a:lnTo>
                  <a:pt x="6286506" y="3520444"/>
                </a:lnTo>
                <a:lnTo>
                  <a:pt x="0" y="35204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03546" y="878601"/>
            <a:ext cx="1088090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Desenvolvimento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278" y="1488697"/>
            <a:ext cx="8039217" cy="8039412"/>
            <a:chOff x="0" y="0"/>
            <a:chExt cx="812800" cy="812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20"/>
            </a:xfrm>
            <a:custGeom>
              <a:avLst/>
              <a:gdLst/>
              <a:ahLst/>
              <a:cxnLst/>
              <a:rect r="r" b="b" t="t" l="l"/>
              <a:pathLst>
                <a:path h="812820" w="812800">
                  <a:moveTo>
                    <a:pt x="406400" y="0"/>
                  </a:moveTo>
                  <a:cubicBezTo>
                    <a:pt x="181951" y="0"/>
                    <a:pt x="0" y="181956"/>
                    <a:pt x="0" y="406410"/>
                  </a:cubicBezTo>
                  <a:cubicBezTo>
                    <a:pt x="0" y="630864"/>
                    <a:pt x="181951" y="812820"/>
                    <a:pt x="406400" y="812820"/>
                  </a:cubicBezTo>
                  <a:cubicBezTo>
                    <a:pt x="630849" y="812820"/>
                    <a:pt x="812800" y="630864"/>
                    <a:pt x="812800" y="406410"/>
                  </a:cubicBezTo>
                  <a:cubicBezTo>
                    <a:pt x="812800" y="1819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2424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7"/>
              <a:ext cx="660400" cy="68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4231" y="1238475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2" y="0"/>
                </a:lnTo>
                <a:lnTo>
                  <a:pt x="492272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53512" y="1115907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3" y="0"/>
                </a:lnTo>
                <a:lnTo>
                  <a:pt x="492273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70656" y="907176"/>
            <a:ext cx="550257" cy="872166"/>
          </a:xfrm>
          <a:custGeom>
            <a:avLst/>
            <a:gdLst/>
            <a:ahLst/>
            <a:cxnLst/>
            <a:rect r="r" b="b" t="t" l="l"/>
            <a:pathLst>
              <a:path h="872166" w="550257">
                <a:moveTo>
                  <a:pt x="0" y="0"/>
                </a:moveTo>
                <a:lnTo>
                  <a:pt x="550257" y="0"/>
                </a:lnTo>
                <a:lnTo>
                  <a:pt x="550257" y="872165"/>
                </a:lnTo>
                <a:lnTo>
                  <a:pt x="0" y="872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897098" y="2924866"/>
            <a:ext cx="3940463" cy="5120602"/>
          </a:xfrm>
          <a:custGeom>
            <a:avLst/>
            <a:gdLst/>
            <a:ahLst/>
            <a:cxnLst/>
            <a:rect r="r" b="b" t="t" l="l"/>
            <a:pathLst>
              <a:path h="5120602" w="3940463">
                <a:moveTo>
                  <a:pt x="0" y="0"/>
                </a:moveTo>
                <a:lnTo>
                  <a:pt x="3940463" y="0"/>
                </a:lnTo>
                <a:lnTo>
                  <a:pt x="3940463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61744" y="4625614"/>
            <a:ext cx="7089605" cy="307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John von Neumann, nascido em Budapeste na Hungria, foi um físico e matemático cujo trabalho contribuiu para a teoria da dualidade e para fundamentos matemáticos da otimização.</a:t>
            </a:r>
          </a:p>
          <a:p>
            <a:pPr algn="l">
              <a:lnSpc>
                <a:spcPts val="3510"/>
              </a:lnSpc>
            </a:pPr>
          </a:p>
          <a:p>
            <a:pPr algn="l">
              <a:lnSpc>
                <a:spcPts val="351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684992" y="838891"/>
            <a:ext cx="9443108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Matemáticos envolvidos no desenvolvimento da Programação linear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84992" y="3372083"/>
            <a:ext cx="944310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John von Neumann (1903–1957)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278" y="1488697"/>
            <a:ext cx="8039217" cy="8039412"/>
            <a:chOff x="0" y="0"/>
            <a:chExt cx="812800" cy="812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20"/>
            </a:xfrm>
            <a:custGeom>
              <a:avLst/>
              <a:gdLst/>
              <a:ahLst/>
              <a:cxnLst/>
              <a:rect r="r" b="b" t="t" l="l"/>
              <a:pathLst>
                <a:path h="812820" w="812800">
                  <a:moveTo>
                    <a:pt x="406400" y="0"/>
                  </a:moveTo>
                  <a:cubicBezTo>
                    <a:pt x="181951" y="0"/>
                    <a:pt x="0" y="181956"/>
                    <a:pt x="0" y="406410"/>
                  </a:cubicBezTo>
                  <a:cubicBezTo>
                    <a:pt x="0" y="630864"/>
                    <a:pt x="181951" y="812820"/>
                    <a:pt x="406400" y="812820"/>
                  </a:cubicBezTo>
                  <a:cubicBezTo>
                    <a:pt x="630849" y="812820"/>
                    <a:pt x="812800" y="630864"/>
                    <a:pt x="812800" y="406410"/>
                  </a:cubicBezTo>
                  <a:cubicBezTo>
                    <a:pt x="812800" y="1819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2424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7"/>
              <a:ext cx="660400" cy="68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4231" y="1238475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2" y="0"/>
                </a:lnTo>
                <a:lnTo>
                  <a:pt x="492272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53512" y="1115907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3" y="0"/>
                </a:lnTo>
                <a:lnTo>
                  <a:pt x="492273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70656" y="907176"/>
            <a:ext cx="550257" cy="872166"/>
          </a:xfrm>
          <a:custGeom>
            <a:avLst/>
            <a:gdLst/>
            <a:ahLst/>
            <a:cxnLst/>
            <a:rect r="r" b="b" t="t" l="l"/>
            <a:pathLst>
              <a:path h="872166" w="550257">
                <a:moveTo>
                  <a:pt x="0" y="0"/>
                </a:moveTo>
                <a:lnTo>
                  <a:pt x="550257" y="0"/>
                </a:lnTo>
                <a:lnTo>
                  <a:pt x="550257" y="872165"/>
                </a:lnTo>
                <a:lnTo>
                  <a:pt x="0" y="872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055318" y="2989264"/>
            <a:ext cx="3624025" cy="5038278"/>
          </a:xfrm>
          <a:custGeom>
            <a:avLst/>
            <a:gdLst/>
            <a:ahLst/>
            <a:cxnLst/>
            <a:rect r="r" b="b" t="t" l="l"/>
            <a:pathLst>
              <a:path h="5038278" w="3624025">
                <a:moveTo>
                  <a:pt x="0" y="0"/>
                </a:moveTo>
                <a:lnTo>
                  <a:pt x="3624024" y="0"/>
                </a:lnTo>
                <a:lnTo>
                  <a:pt x="3624024" y="5038279"/>
                </a:lnTo>
                <a:lnTo>
                  <a:pt x="0" y="5038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61744" y="4625614"/>
            <a:ext cx="7089605" cy="307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Leon Kantorovich foi um matemático russo  que conseguiu ser o p</a:t>
            </a: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imeiro a formular problemas económicos como problemas de otimização linear.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Recebeu o Prémio Nobel da Economia (1975) pelo seu trabalho.</a:t>
            </a:r>
          </a:p>
          <a:p>
            <a:pPr algn="l">
              <a:lnSpc>
                <a:spcPts val="351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684992" y="838891"/>
            <a:ext cx="9443108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Matemáticos envolvidos no desenvolvimento da Programação linear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84992" y="3372083"/>
            <a:ext cx="944310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Leonid Kantorovich (1912–1986)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278" y="1488697"/>
            <a:ext cx="8039217" cy="8039412"/>
            <a:chOff x="0" y="0"/>
            <a:chExt cx="812800" cy="812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20"/>
            </a:xfrm>
            <a:custGeom>
              <a:avLst/>
              <a:gdLst/>
              <a:ahLst/>
              <a:cxnLst/>
              <a:rect r="r" b="b" t="t" l="l"/>
              <a:pathLst>
                <a:path h="812820" w="812800">
                  <a:moveTo>
                    <a:pt x="406400" y="0"/>
                  </a:moveTo>
                  <a:cubicBezTo>
                    <a:pt x="181951" y="0"/>
                    <a:pt x="0" y="181956"/>
                    <a:pt x="0" y="406410"/>
                  </a:cubicBezTo>
                  <a:cubicBezTo>
                    <a:pt x="0" y="630864"/>
                    <a:pt x="181951" y="812820"/>
                    <a:pt x="406400" y="812820"/>
                  </a:cubicBezTo>
                  <a:cubicBezTo>
                    <a:pt x="630849" y="812820"/>
                    <a:pt x="812800" y="630864"/>
                    <a:pt x="812800" y="406410"/>
                  </a:cubicBezTo>
                  <a:cubicBezTo>
                    <a:pt x="812800" y="1819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2424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7"/>
              <a:ext cx="660400" cy="68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4231" y="1238475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2" y="0"/>
                </a:lnTo>
                <a:lnTo>
                  <a:pt x="492272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53512" y="1115907"/>
            <a:ext cx="492272" cy="780259"/>
          </a:xfrm>
          <a:custGeom>
            <a:avLst/>
            <a:gdLst/>
            <a:ahLst/>
            <a:cxnLst/>
            <a:rect r="r" b="b" t="t" l="l"/>
            <a:pathLst>
              <a:path h="780259" w="492272">
                <a:moveTo>
                  <a:pt x="0" y="0"/>
                </a:moveTo>
                <a:lnTo>
                  <a:pt x="492273" y="0"/>
                </a:lnTo>
                <a:lnTo>
                  <a:pt x="492273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70656" y="907176"/>
            <a:ext cx="550257" cy="872166"/>
          </a:xfrm>
          <a:custGeom>
            <a:avLst/>
            <a:gdLst/>
            <a:ahLst/>
            <a:cxnLst/>
            <a:rect r="r" b="b" t="t" l="l"/>
            <a:pathLst>
              <a:path h="872166" w="550257">
                <a:moveTo>
                  <a:pt x="0" y="0"/>
                </a:moveTo>
                <a:lnTo>
                  <a:pt x="550257" y="0"/>
                </a:lnTo>
                <a:lnTo>
                  <a:pt x="550257" y="872165"/>
                </a:lnTo>
                <a:lnTo>
                  <a:pt x="0" y="872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043760" y="2924866"/>
            <a:ext cx="3647139" cy="5152308"/>
          </a:xfrm>
          <a:custGeom>
            <a:avLst/>
            <a:gdLst/>
            <a:ahLst/>
            <a:cxnLst/>
            <a:rect r="r" b="b" t="t" l="l"/>
            <a:pathLst>
              <a:path h="5152308" w="3647139">
                <a:moveTo>
                  <a:pt x="0" y="0"/>
                </a:moveTo>
                <a:lnTo>
                  <a:pt x="3647140" y="0"/>
                </a:lnTo>
                <a:lnTo>
                  <a:pt x="3647140" y="5152308"/>
                </a:lnTo>
                <a:lnTo>
                  <a:pt x="0" y="5152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61744" y="4625614"/>
            <a:ext cx="7089605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George Dantzig foi um matemático Norte-americano que criou o Método Simplex em 1947, o algoritmo mais famoso para resolver problemas de Programação linear.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84992" y="838891"/>
            <a:ext cx="9443108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Matemáticos envolvidos no desenvolvimento da Programação linear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84992" y="3372083"/>
            <a:ext cx="944310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George Dantzig (1914–2005)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C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911" y="2374326"/>
            <a:ext cx="18663821" cy="7876698"/>
            <a:chOff x="0" y="0"/>
            <a:chExt cx="18723676" cy="7901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23676" cy="7901958"/>
            </a:xfrm>
            <a:custGeom>
              <a:avLst/>
              <a:gdLst/>
              <a:ahLst/>
              <a:cxnLst/>
              <a:rect r="r" b="b" t="t" l="l"/>
              <a:pathLst>
                <a:path h="7901958" w="18723676">
                  <a:moveTo>
                    <a:pt x="0" y="0"/>
                  </a:moveTo>
                  <a:lnTo>
                    <a:pt x="18723676" y="0"/>
                  </a:lnTo>
                  <a:lnTo>
                    <a:pt x="18723676" y="7901958"/>
                  </a:lnTo>
                  <a:lnTo>
                    <a:pt x="0" y="7901958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723676" cy="795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1">
                <a:lnSpc>
                  <a:spcPts val="37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6491" y="3763834"/>
            <a:ext cx="7242809" cy="4866262"/>
          </a:xfrm>
          <a:custGeom>
            <a:avLst/>
            <a:gdLst/>
            <a:ahLst/>
            <a:cxnLst/>
            <a:rect r="r" b="b" t="t" l="l"/>
            <a:pathLst>
              <a:path h="4866262" w="7242809">
                <a:moveTo>
                  <a:pt x="0" y="0"/>
                </a:moveTo>
                <a:lnTo>
                  <a:pt x="7242809" y="0"/>
                </a:lnTo>
                <a:lnTo>
                  <a:pt x="7242809" y="4866262"/>
                </a:lnTo>
                <a:lnTo>
                  <a:pt x="0" y="4866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3489" y="516951"/>
            <a:ext cx="1476102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 Co</a:t>
            </a:r>
            <a:r>
              <a:rPr lang="en-US" b="true" sz="6000" strike="noStrike" u="none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mo Resolver um Problema de Programação Linear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75" y="3078480"/>
            <a:ext cx="7559027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Definir variáveis de deci</a:t>
            </a: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são Ex.: x = quantidade do produto A y = quantidade do produto B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Definir a função objetivo Ex.: Maximizar Z=ax+by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Definir as restrições Ex.: ax+by≤cdx+ey≤fx≥0, y≥0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Representar graficamente as restrições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Determinar a região admissível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Encontrar os vértices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Calcular a função objetivo em cada vértice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Escolher a solução ótima</a:t>
            </a:r>
          </a:p>
          <a:p>
            <a:pPr algn="l" marL="0" indent="0" lvl="1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77596" y="1800803"/>
            <a:ext cx="7083183" cy="1636087"/>
            <a:chOff x="0" y="0"/>
            <a:chExt cx="660706" cy="1526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706" cy="152611"/>
            </a:xfrm>
            <a:custGeom>
              <a:avLst/>
              <a:gdLst/>
              <a:ahLst/>
              <a:cxnLst/>
              <a:rect r="r" b="b" t="t" l="l"/>
              <a:pathLst>
                <a:path h="152611" w="660706">
                  <a:moveTo>
                    <a:pt x="0" y="0"/>
                  </a:moveTo>
                  <a:lnTo>
                    <a:pt x="660706" y="0"/>
                  </a:lnTo>
                  <a:lnTo>
                    <a:pt x="660706" y="152611"/>
                  </a:lnTo>
                  <a:lnTo>
                    <a:pt x="0" y="152611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60706" cy="181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3715" y="4535506"/>
            <a:ext cx="2915754" cy="291575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98425"/>
              <a:ext cx="558800" cy="587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3802991" y="4971027"/>
            <a:ext cx="2611467" cy="4127318"/>
          </a:xfrm>
          <a:custGeom>
            <a:avLst/>
            <a:gdLst/>
            <a:ahLst/>
            <a:cxnLst/>
            <a:rect r="r" b="b" t="t" l="l"/>
            <a:pathLst>
              <a:path h="4127318" w="2611467">
                <a:moveTo>
                  <a:pt x="2611467" y="0"/>
                </a:moveTo>
                <a:lnTo>
                  <a:pt x="0" y="0"/>
                </a:lnTo>
                <a:lnTo>
                  <a:pt x="0" y="4127318"/>
                </a:lnTo>
                <a:lnTo>
                  <a:pt x="2611467" y="4127318"/>
                </a:lnTo>
                <a:lnTo>
                  <a:pt x="26114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404760"/>
            <a:ext cx="2774291" cy="2693585"/>
          </a:xfrm>
          <a:custGeom>
            <a:avLst/>
            <a:gdLst/>
            <a:ahLst/>
            <a:cxnLst/>
            <a:rect r="r" b="b" t="t" l="l"/>
            <a:pathLst>
              <a:path h="2693585" w="2774291">
                <a:moveTo>
                  <a:pt x="0" y="0"/>
                </a:moveTo>
                <a:lnTo>
                  <a:pt x="2774291" y="0"/>
                </a:lnTo>
                <a:lnTo>
                  <a:pt x="2774291" y="2693585"/>
                </a:lnTo>
                <a:lnTo>
                  <a:pt x="0" y="2693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274544" y="779703"/>
            <a:ext cx="8869456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Teorema Fundamental da Programação Linear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8090" y="4478356"/>
            <a:ext cx="622587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Isto permite testar apenas os pontos extremos.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751950" y="5527063"/>
            <a:ext cx="660854" cy="641029"/>
          </a:xfrm>
          <a:custGeom>
            <a:avLst/>
            <a:gdLst/>
            <a:ahLst/>
            <a:cxnLst/>
            <a:rect r="r" b="b" t="t" l="l"/>
            <a:pathLst>
              <a:path h="641029" w="660854">
                <a:moveTo>
                  <a:pt x="0" y="0"/>
                </a:moveTo>
                <a:lnTo>
                  <a:pt x="660855" y="0"/>
                </a:lnTo>
                <a:lnTo>
                  <a:pt x="660855" y="641028"/>
                </a:lnTo>
                <a:lnTo>
                  <a:pt x="0" y="6410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9477596" y="2119737"/>
            <a:ext cx="708318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Se existir uma solução ótima, ela ocorre sempre num vértice da região admissível.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98419" y="-159487"/>
            <a:ext cx="10864830" cy="10691709"/>
            <a:chOff x="0" y="0"/>
            <a:chExt cx="9621263" cy="9467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21263" cy="9467958"/>
            </a:xfrm>
            <a:custGeom>
              <a:avLst/>
              <a:gdLst/>
              <a:ahLst/>
              <a:cxnLst/>
              <a:rect r="r" b="b" t="t" l="l"/>
              <a:pathLst>
                <a:path h="9467958" w="9621263">
                  <a:moveTo>
                    <a:pt x="0" y="0"/>
                  </a:moveTo>
                  <a:lnTo>
                    <a:pt x="9621263" y="0"/>
                  </a:lnTo>
                  <a:lnTo>
                    <a:pt x="9621263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621263" cy="9496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73182" y="1028700"/>
            <a:ext cx="7940055" cy="5453468"/>
            <a:chOff x="0" y="0"/>
            <a:chExt cx="7031252" cy="48292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1252" cy="4829275"/>
            </a:xfrm>
            <a:custGeom>
              <a:avLst/>
              <a:gdLst/>
              <a:ahLst/>
              <a:cxnLst/>
              <a:rect r="r" b="b" t="t" l="l"/>
              <a:pathLst>
                <a:path h="4829275" w="7031252">
                  <a:moveTo>
                    <a:pt x="0" y="0"/>
                  </a:moveTo>
                  <a:lnTo>
                    <a:pt x="7031252" y="0"/>
                  </a:lnTo>
                  <a:lnTo>
                    <a:pt x="7031252" y="4829275"/>
                  </a:lnTo>
                  <a:lnTo>
                    <a:pt x="0" y="4829275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031252" cy="485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01508" y="7433489"/>
            <a:ext cx="1111260" cy="1618777"/>
            <a:chOff x="0" y="0"/>
            <a:chExt cx="1481680" cy="215836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676689"/>
              <a:ext cx="1481680" cy="148168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3EDB86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08673" y="0"/>
              <a:ext cx="1264334" cy="1915657"/>
            </a:xfrm>
            <a:custGeom>
              <a:avLst/>
              <a:gdLst/>
              <a:ahLst/>
              <a:cxnLst/>
              <a:rect r="r" b="b" t="t" l="l"/>
              <a:pathLst>
                <a:path h="1915657" w="1264334">
                  <a:moveTo>
                    <a:pt x="0" y="0"/>
                  </a:moveTo>
                  <a:lnTo>
                    <a:pt x="1264334" y="0"/>
                  </a:lnTo>
                  <a:lnTo>
                    <a:pt x="1264334" y="1915657"/>
                  </a:lnTo>
                  <a:lnTo>
                    <a:pt x="0" y="191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48932" y="1287906"/>
            <a:ext cx="6588554" cy="4935056"/>
          </a:xfrm>
          <a:custGeom>
            <a:avLst/>
            <a:gdLst/>
            <a:ahLst/>
            <a:cxnLst/>
            <a:rect r="r" b="b" t="t" l="l"/>
            <a:pathLst>
              <a:path h="4935056" w="6588554">
                <a:moveTo>
                  <a:pt x="0" y="0"/>
                </a:moveTo>
                <a:lnTo>
                  <a:pt x="6588555" y="0"/>
                </a:lnTo>
                <a:lnTo>
                  <a:pt x="6588555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000125"/>
            <a:ext cx="5647501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b="true" sz="51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Região Admissível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951685"/>
            <a:ext cx="5321744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780"/>
              </a:lnSpc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 região admissível é o conjunto de todos os pontos que satisfazem simultaneamente todas as restrições. No gráfico, corresponde à área sombreada.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0125"/>
            <a:ext cx="5719691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b="true" sz="51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Aná</a:t>
            </a:r>
            <a:r>
              <a:rPr lang="en-US" b="true" sz="51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lise dos Vértices (exemplo)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98419" y="-159487"/>
            <a:ext cx="10864830" cy="10691709"/>
            <a:chOff x="0" y="0"/>
            <a:chExt cx="9621263" cy="94679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1263" cy="9467958"/>
            </a:xfrm>
            <a:custGeom>
              <a:avLst/>
              <a:gdLst/>
              <a:ahLst/>
              <a:cxnLst/>
              <a:rect r="r" b="b" t="t" l="l"/>
              <a:pathLst>
                <a:path h="9467958" w="9621263">
                  <a:moveTo>
                    <a:pt x="0" y="0"/>
                  </a:moveTo>
                  <a:lnTo>
                    <a:pt x="9621263" y="0"/>
                  </a:lnTo>
                  <a:lnTo>
                    <a:pt x="9621263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621263" cy="9496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73182" y="1028700"/>
            <a:ext cx="7940055" cy="3388715"/>
            <a:chOff x="0" y="0"/>
            <a:chExt cx="7031252" cy="3000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31252" cy="3000849"/>
            </a:xfrm>
            <a:custGeom>
              <a:avLst/>
              <a:gdLst/>
              <a:ahLst/>
              <a:cxnLst/>
              <a:rect r="r" b="b" t="t" l="l"/>
              <a:pathLst>
                <a:path h="3000849" w="7031252">
                  <a:moveTo>
                    <a:pt x="0" y="0"/>
                  </a:moveTo>
                  <a:lnTo>
                    <a:pt x="7031252" y="0"/>
                  </a:lnTo>
                  <a:lnTo>
                    <a:pt x="7031252" y="3000849"/>
                  </a:lnTo>
                  <a:lnTo>
                    <a:pt x="0" y="3000849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031252" cy="302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73182" y="1028700"/>
            <a:ext cx="4892506" cy="3388715"/>
            <a:chOff x="0" y="0"/>
            <a:chExt cx="6523342" cy="45182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397954"/>
              <a:ext cx="5293370" cy="3120332"/>
              <a:chOff x="0" y="0"/>
              <a:chExt cx="3515626" cy="207238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515626" cy="2072389"/>
              </a:xfrm>
              <a:custGeom>
                <a:avLst/>
                <a:gdLst/>
                <a:ahLst/>
                <a:cxnLst/>
                <a:rect r="r" b="b" t="t" l="l"/>
                <a:pathLst>
                  <a:path h="2072389" w="3515626">
                    <a:moveTo>
                      <a:pt x="0" y="0"/>
                    </a:moveTo>
                    <a:lnTo>
                      <a:pt x="3515626" y="0"/>
                    </a:lnTo>
                    <a:lnTo>
                      <a:pt x="3515626" y="2072389"/>
                    </a:lnTo>
                    <a:lnTo>
                      <a:pt x="0" y="2072389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3515626" cy="2100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296272" y="1340804"/>
              <a:ext cx="4227070" cy="314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</a:p>
            <a:p>
              <a:pPr algn="l" marL="0" indent="0" lvl="1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O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5293370" cy="1434727"/>
              <a:chOff x="0" y="0"/>
              <a:chExt cx="569278" cy="15429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69278" cy="154298"/>
              </a:xfrm>
              <a:custGeom>
                <a:avLst/>
                <a:gdLst/>
                <a:ahLst/>
                <a:cxnLst/>
                <a:rect r="r" b="b" t="t" l="l"/>
                <a:pathLst>
                  <a:path h="154298" w="569278">
                    <a:moveTo>
                      <a:pt x="0" y="0"/>
                    </a:moveTo>
                    <a:lnTo>
                      <a:pt x="569278" y="0"/>
                    </a:lnTo>
                    <a:lnTo>
                      <a:pt x="569278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69278" cy="19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502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86321" y="289162"/>
              <a:ext cx="4294517" cy="808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94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Pontos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4417415"/>
            <a:ext cx="5414246" cy="4977589"/>
            <a:chOff x="0" y="0"/>
            <a:chExt cx="7218994" cy="663678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218994" cy="6636786"/>
              <a:chOff x="0" y="0"/>
              <a:chExt cx="4794542" cy="440786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794542" cy="4407864"/>
              </a:xfrm>
              <a:custGeom>
                <a:avLst/>
                <a:gdLst/>
                <a:ahLst/>
                <a:cxnLst/>
                <a:rect r="r" b="b" t="t" l="l"/>
                <a:pathLst>
                  <a:path h="4407864" w="4794542">
                    <a:moveTo>
                      <a:pt x="0" y="0"/>
                    </a:moveTo>
                    <a:lnTo>
                      <a:pt x="4794542" y="0"/>
                    </a:lnTo>
                    <a:lnTo>
                      <a:pt x="4794542" y="4407864"/>
                    </a:lnTo>
                    <a:lnTo>
                      <a:pt x="0" y="440786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4794542" cy="44364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783708" y="413905"/>
              <a:ext cx="5651579" cy="1439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142"/>
                </a:lnSpc>
              </a:pPr>
              <a:r>
                <a:rPr lang="en-US" b="true" sz="3800">
                  <a:solidFill>
                    <a:srgbClr val="24242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Soluções Possíveis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48892" y="1852696"/>
              <a:ext cx="5921210" cy="441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Qualquer ponto dentro da região </a:t>
              </a: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dmissível é uma solução válida, como:</a:t>
              </a:r>
            </a:p>
            <a:p>
              <a:pPr algn="ctr" marL="582932" indent="-291466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(2, 5)</a:t>
              </a:r>
            </a:p>
            <a:p>
              <a:pPr algn="ctr" marL="582932" indent="-291466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(4, 4)</a:t>
              </a:r>
            </a:p>
            <a:p>
              <a:pPr algn="ctr" marL="582932" indent="-291466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(5, 2)</a:t>
              </a:r>
            </a:p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43210" y="1028700"/>
            <a:ext cx="4616407" cy="3388715"/>
            <a:chOff x="0" y="0"/>
            <a:chExt cx="6155209" cy="451828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1397954"/>
              <a:ext cx="5293370" cy="3120332"/>
              <a:chOff x="0" y="0"/>
              <a:chExt cx="3515626" cy="207238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515626" cy="2072389"/>
              </a:xfrm>
              <a:custGeom>
                <a:avLst/>
                <a:gdLst/>
                <a:ahLst/>
                <a:cxnLst/>
                <a:rect r="r" b="b" t="t" l="l"/>
                <a:pathLst>
                  <a:path h="2072389" w="3515626">
                    <a:moveTo>
                      <a:pt x="0" y="0"/>
                    </a:moveTo>
                    <a:lnTo>
                      <a:pt x="3515626" y="0"/>
                    </a:lnTo>
                    <a:lnTo>
                      <a:pt x="3515626" y="2072389"/>
                    </a:lnTo>
                    <a:lnTo>
                      <a:pt x="0" y="2072389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3515626" cy="2100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28139" y="1340804"/>
              <a:ext cx="4227070" cy="314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(0,8)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(3,7)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(6,3)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(10,0)</a:t>
              </a:r>
            </a:p>
            <a:p>
              <a:pPr algn="l" marL="0" indent="0" lvl="1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(0,0)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5293370" cy="1434727"/>
              <a:chOff x="0" y="0"/>
              <a:chExt cx="569278" cy="15429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69278" cy="154298"/>
              </a:xfrm>
              <a:custGeom>
                <a:avLst/>
                <a:gdLst/>
                <a:ahLst/>
                <a:cxnLst/>
                <a:rect r="r" b="b" t="t" l="l"/>
                <a:pathLst>
                  <a:path h="154298" w="569278">
                    <a:moveTo>
                      <a:pt x="0" y="0"/>
                    </a:moveTo>
                    <a:lnTo>
                      <a:pt x="569278" y="0"/>
                    </a:lnTo>
                    <a:lnTo>
                      <a:pt x="569278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569278" cy="19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502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86321" y="289162"/>
              <a:ext cx="4294517" cy="808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94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Coordenadas</a:t>
              </a:r>
            </a:p>
          </p:txBody>
        </p:sp>
      </p:grpSp>
    </p:spTree>
  </p:cSld>
  <p:clrMapOvr>
    <a:masterClrMapping/>
  </p:clrMapOvr>
  <p:transition spd="med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0125"/>
            <a:ext cx="571969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b="true" sz="51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So</a:t>
            </a:r>
            <a:r>
              <a:rPr lang="en-US" b="true" sz="51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lução Ótima (exemplo)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98419" y="-159487"/>
            <a:ext cx="10864830" cy="10691709"/>
            <a:chOff x="0" y="0"/>
            <a:chExt cx="9621263" cy="94679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1263" cy="9467958"/>
            </a:xfrm>
            <a:custGeom>
              <a:avLst/>
              <a:gdLst/>
              <a:ahLst/>
              <a:cxnLst/>
              <a:rect r="r" b="b" t="t" l="l"/>
              <a:pathLst>
                <a:path h="9467958" w="9621263">
                  <a:moveTo>
                    <a:pt x="0" y="0"/>
                  </a:moveTo>
                  <a:lnTo>
                    <a:pt x="9621263" y="0"/>
                  </a:lnTo>
                  <a:lnTo>
                    <a:pt x="9621263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621263" cy="9496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73182" y="1028700"/>
            <a:ext cx="7940055" cy="3388715"/>
            <a:chOff x="0" y="0"/>
            <a:chExt cx="7031252" cy="3000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31252" cy="3000849"/>
            </a:xfrm>
            <a:custGeom>
              <a:avLst/>
              <a:gdLst/>
              <a:ahLst/>
              <a:cxnLst/>
              <a:rect r="r" b="b" t="t" l="l"/>
              <a:pathLst>
                <a:path h="3000849" w="7031252">
                  <a:moveTo>
                    <a:pt x="0" y="0"/>
                  </a:moveTo>
                  <a:lnTo>
                    <a:pt x="7031252" y="0"/>
                  </a:lnTo>
                  <a:lnTo>
                    <a:pt x="7031252" y="3000849"/>
                  </a:lnTo>
                  <a:lnTo>
                    <a:pt x="0" y="3000849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031252" cy="302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73182" y="1028700"/>
            <a:ext cx="4892506" cy="3388715"/>
            <a:chOff x="0" y="0"/>
            <a:chExt cx="6523342" cy="45182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397954"/>
              <a:ext cx="5293370" cy="3120332"/>
              <a:chOff x="0" y="0"/>
              <a:chExt cx="3515626" cy="207238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515626" cy="2072389"/>
              </a:xfrm>
              <a:custGeom>
                <a:avLst/>
                <a:gdLst/>
                <a:ahLst/>
                <a:cxnLst/>
                <a:rect r="r" b="b" t="t" l="l"/>
                <a:pathLst>
                  <a:path h="2072389" w="3515626">
                    <a:moveTo>
                      <a:pt x="0" y="0"/>
                    </a:moveTo>
                    <a:lnTo>
                      <a:pt x="3515626" y="0"/>
                    </a:lnTo>
                    <a:lnTo>
                      <a:pt x="3515626" y="2072389"/>
                    </a:lnTo>
                    <a:lnTo>
                      <a:pt x="0" y="2072389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3515626" cy="2100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296272" y="1340804"/>
              <a:ext cx="4227070" cy="314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O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</a:p>
            <a:p>
              <a:pPr algn="l" marL="0" indent="0" lvl="1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5293370" cy="1434727"/>
              <a:chOff x="0" y="0"/>
              <a:chExt cx="569278" cy="15429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69278" cy="154298"/>
              </a:xfrm>
              <a:custGeom>
                <a:avLst/>
                <a:gdLst/>
                <a:ahLst/>
                <a:cxnLst/>
                <a:rect r="r" b="b" t="t" l="l"/>
                <a:pathLst>
                  <a:path h="154298" w="569278">
                    <a:moveTo>
                      <a:pt x="0" y="0"/>
                    </a:moveTo>
                    <a:lnTo>
                      <a:pt x="569278" y="0"/>
                    </a:lnTo>
                    <a:lnTo>
                      <a:pt x="569278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69278" cy="19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502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86321" y="289162"/>
              <a:ext cx="4294517" cy="808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94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Pontos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4417415"/>
            <a:ext cx="5414246" cy="1596214"/>
            <a:chOff x="0" y="0"/>
            <a:chExt cx="7218994" cy="212828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218994" cy="2128286"/>
              <a:chOff x="0" y="0"/>
              <a:chExt cx="4794542" cy="141351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794542" cy="1413515"/>
              </a:xfrm>
              <a:custGeom>
                <a:avLst/>
                <a:gdLst/>
                <a:ahLst/>
                <a:cxnLst/>
                <a:rect r="r" b="b" t="t" l="l"/>
                <a:pathLst>
                  <a:path h="1413515" w="4794542">
                    <a:moveTo>
                      <a:pt x="0" y="0"/>
                    </a:moveTo>
                    <a:lnTo>
                      <a:pt x="4794542" y="0"/>
                    </a:lnTo>
                    <a:lnTo>
                      <a:pt x="4794542" y="1413515"/>
                    </a:lnTo>
                    <a:lnTo>
                      <a:pt x="0" y="1413515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4794542" cy="1442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783708" y="413905"/>
              <a:ext cx="5651579" cy="740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142"/>
                </a:lnSpc>
              </a:pPr>
              <a:r>
                <a:rPr lang="en-US" b="true" sz="3800">
                  <a:solidFill>
                    <a:srgbClr val="24242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Soluções Ótimas: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48892" y="1154196"/>
              <a:ext cx="592121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 A (3,7) e E (10,0).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43210" y="1028700"/>
            <a:ext cx="4616407" cy="3388715"/>
            <a:chOff x="0" y="0"/>
            <a:chExt cx="6155209" cy="451828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1397954"/>
              <a:ext cx="5293370" cy="3120332"/>
              <a:chOff x="0" y="0"/>
              <a:chExt cx="3515626" cy="207238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515626" cy="2072389"/>
              </a:xfrm>
              <a:custGeom>
                <a:avLst/>
                <a:gdLst/>
                <a:ahLst/>
                <a:cxnLst/>
                <a:rect r="r" b="b" t="t" l="l"/>
                <a:pathLst>
                  <a:path h="2072389" w="3515626">
                    <a:moveTo>
                      <a:pt x="0" y="0"/>
                    </a:moveTo>
                    <a:lnTo>
                      <a:pt x="3515626" y="0"/>
                    </a:lnTo>
                    <a:lnTo>
                      <a:pt x="3515626" y="2072389"/>
                    </a:lnTo>
                    <a:lnTo>
                      <a:pt x="0" y="2072389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3515626" cy="2100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28139" y="1340804"/>
              <a:ext cx="4227070" cy="314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8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9</a:t>
              </a:r>
            </a:p>
            <a:p>
              <a:pPr algn="l" marL="0" indent="0" lvl="1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5293370" cy="1434727"/>
              <a:chOff x="0" y="0"/>
              <a:chExt cx="569278" cy="15429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69278" cy="154298"/>
              </a:xfrm>
              <a:custGeom>
                <a:avLst/>
                <a:gdLst/>
                <a:ahLst/>
                <a:cxnLst/>
                <a:rect r="r" b="b" t="t" l="l"/>
                <a:pathLst>
                  <a:path h="154298" w="569278">
                    <a:moveTo>
                      <a:pt x="0" y="0"/>
                    </a:moveTo>
                    <a:lnTo>
                      <a:pt x="569278" y="0"/>
                    </a:lnTo>
                    <a:lnTo>
                      <a:pt x="569278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569278" cy="19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502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86321" y="289162"/>
              <a:ext cx="4294517" cy="808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94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x + y</a:t>
              </a:r>
            </a:p>
          </p:txBody>
        </p:sp>
      </p:grpSp>
    </p:spTree>
  </p:cSld>
  <p:clrMapOvr>
    <a:masterClrMapping/>
  </p:clrMapOvr>
  <p:transition spd="med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C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314556"/>
            <a:ext cx="18288000" cy="6972444"/>
            <a:chOff x="0" y="0"/>
            <a:chExt cx="1705871" cy="650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871" cy="650377"/>
            </a:xfrm>
            <a:custGeom>
              <a:avLst/>
              <a:gdLst/>
              <a:ahLst/>
              <a:cxnLst/>
              <a:rect r="r" b="b" t="t" l="l"/>
              <a:pathLst>
                <a:path h="650377" w="1705871">
                  <a:moveTo>
                    <a:pt x="0" y="0"/>
                  </a:moveTo>
                  <a:lnTo>
                    <a:pt x="1705871" y="0"/>
                  </a:lnTo>
                  <a:lnTo>
                    <a:pt x="1705871" y="650377"/>
                  </a:lnTo>
                  <a:lnTo>
                    <a:pt x="0" y="650377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05871" cy="67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4520812" y="344303"/>
            <a:ext cx="680772" cy="6346179"/>
          </a:xfrm>
          <a:custGeom>
            <a:avLst/>
            <a:gdLst/>
            <a:ahLst/>
            <a:cxnLst/>
            <a:rect r="r" b="b" t="t" l="l"/>
            <a:pathLst>
              <a:path h="6346179" w="680772">
                <a:moveTo>
                  <a:pt x="0" y="0"/>
                </a:moveTo>
                <a:lnTo>
                  <a:pt x="680772" y="0"/>
                </a:lnTo>
                <a:lnTo>
                  <a:pt x="680772" y="6346179"/>
                </a:lnTo>
                <a:lnTo>
                  <a:pt x="0" y="634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7259300" y="2142472"/>
            <a:ext cx="715028" cy="62565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764886" y="4088385"/>
            <a:ext cx="4269402" cy="3061081"/>
          </a:xfrm>
          <a:custGeom>
            <a:avLst/>
            <a:gdLst/>
            <a:ahLst/>
            <a:cxnLst/>
            <a:rect r="r" b="b" t="t" l="l"/>
            <a:pathLst>
              <a:path h="3061081" w="4269402">
                <a:moveTo>
                  <a:pt x="0" y="0"/>
                </a:moveTo>
                <a:lnTo>
                  <a:pt x="4269402" y="0"/>
                </a:lnTo>
                <a:lnTo>
                  <a:pt x="4269402" y="3061080"/>
                </a:lnTo>
                <a:lnTo>
                  <a:pt x="0" y="306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88109" y="5040630"/>
            <a:ext cx="3878436" cy="3105839"/>
          </a:xfrm>
          <a:custGeom>
            <a:avLst/>
            <a:gdLst/>
            <a:ahLst/>
            <a:cxnLst/>
            <a:rect r="r" b="b" t="t" l="l"/>
            <a:pathLst>
              <a:path h="3105839" w="3878436">
                <a:moveTo>
                  <a:pt x="0" y="0"/>
                </a:moveTo>
                <a:lnTo>
                  <a:pt x="3878436" y="0"/>
                </a:lnTo>
                <a:lnTo>
                  <a:pt x="3878436" y="3105839"/>
                </a:lnTo>
                <a:lnTo>
                  <a:pt x="0" y="3105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64886" y="7009293"/>
            <a:ext cx="4061344" cy="2274352"/>
          </a:xfrm>
          <a:custGeom>
            <a:avLst/>
            <a:gdLst/>
            <a:ahLst/>
            <a:cxnLst/>
            <a:rect r="r" b="b" t="t" l="l"/>
            <a:pathLst>
              <a:path h="2274352" w="4061344">
                <a:moveTo>
                  <a:pt x="0" y="0"/>
                </a:moveTo>
                <a:lnTo>
                  <a:pt x="4061344" y="0"/>
                </a:lnTo>
                <a:lnTo>
                  <a:pt x="4061344" y="2274353"/>
                </a:lnTo>
                <a:lnTo>
                  <a:pt x="0" y="22743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50928" y="7749540"/>
            <a:ext cx="3929058" cy="2560495"/>
          </a:xfrm>
          <a:custGeom>
            <a:avLst/>
            <a:gdLst/>
            <a:ahLst/>
            <a:cxnLst/>
            <a:rect r="r" b="b" t="t" l="l"/>
            <a:pathLst>
              <a:path h="2560495" w="3929058">
                <a:moveTo>
                  <a:pt x="0" y="0"/>
                </a:moveTo>
                <a:lnTo>
                  <a:pt x="3929058" y="0"/>
                </a:lnTo>
                <a:lnTo>
                  <a:pt x="3929058" y="2560495"/>
                </a:lnTo>
                <a:lnTo>
                  <a:pt x="0" y="25604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56" r="0" b="-105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86350" y="719557"/>
            <a:ext cx="811530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Ár</a:t>
            </a:r>
            <a:r>
              <a:rPr lang="en-US" b="true" sz="60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eas de Aplicação da Programação Linear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5239" y="4983480"/>
            <a:ext cx="7300657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Econom</a:t>
            </a: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ia: maximização de lucros, análise de custos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Indústria: planeamento de produção, gestão de recursos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Transportes: otimização de rotas, logística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Informática: IA, redes, alocação de recursos</a:t>
            </a:r>
          </a:p>
          <a:p>
            <a:pPr algn="l" marL="0" indent="0" lvl="1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314556"/>
            <a:ext cx="18288000" cy="6972444"/>
            <a:chOff x="0" y="0"/>
            <a:chExt cx="1705871" cy="650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871" cy="650377"/>
            </a:xfrm>
            <a:custGeom>
              <a:avLst/>
              <a:gdLst/>
              <a:ahLst/>
              <a:cxnLst/>
              <a:rect r="r" b="b" t="t" l="l"/>
              <a:pathLst>
                <a:path h="650377" w="1705871">
                  <a:moveTo>
                    <a:pt x="0" y="0"/>
                  </a:moveTo>
                  <a:lnTo>
                    <a:pt x="1705871" y="0"/>
                  </a:lnTo>
                  <a:lnTo>
                    <a:pt x="1705871" y="650377"/>
                  </a:lnTo>
                  <a:lnTo>
                    <a:pt x="0" y="650377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05871" cy="67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4520812" y="344303"/>
            <a:ext cx="680772" cy="6346179"/>
          </a:xfrm>
          <a:custGeom>
            <a:avLst/>
            <a:gdLst/>
            <a:ahLst/>
            <a:cxnLst/>
            <a:rect r="r" b="b" t="t" l="l"/>
            <a:pathLst>
              <a:path h="6346179" w="680772">
                <a:moveTo>
                  <a:pt x="0" y="0"/>
                </a:moveTo>
                <a:lnTo>
                  <a:pt x="680772" y="0"/>
                </a:lnTo>
                <a:lnTo>
                  <a:pt x="680772" y="6346179"/>
                </a:lnTo>
                <a:lnTo>
                  <a:pt x="0" y="634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7259300" y="2142472"/>
            <a:ext cx="715028" cy="62565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450928" y="7749540"/>
            <a:ext cx="3929058" cy="2560495"/>
          </a:xfrm>
          <a:custGeom>
            <a:avLst/>
            <a:gdLst/>
            <a:ahLst/>
            <a:cxnLst/>
            <a:rect r="r" b="b" t="t" l="l"/>
            <a:pathLst>
              <a:path h="2560495" w="3929058">
                <a:moveTo>
                  <a:pt x="0" y="0"/>
                </a:moveTo>
                <a:lnTo>
                  <a:pt x="3929058" y="0"/>
                </a:lnTo>
                <a:lnTo>
                  <a:pt x="3929058" y="2560495"/>
                </a:lnTo>
                <a:lnTo>
                  <a:pt x="0" y="2560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56" r="0" b="-105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79053" y="6435090"/>
            <a:ext cx="3595275" cy="2248264"/>
          </a:xfrm>
          <a:custGeom>
            <a:avLst/>
            <a:gdLst/>
            <a:ahLst/>
            <a:cxnLst/>
            <a:rect r="r" b="b" t="t" l="l"/>
            <a:pathLst>
              <a:path h="2248264" w="3595275">
                <a:moveTo>
                  <a:pt x="0" y="0"/>
                </a:moveTo>
                <a:lnTo>
                  <a:pt x="3595275" y="0"/>
                </a:lnTo>
                <a:lnTo>
                  <a:pt x="3595275" y="2248264"/>
                </a:lnTo>
                <a:lnTo>
                  <a:pt x="0" y="22482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33" t="0" r="-5833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688109" y="4894984"/>
            <a:ext cx="4057475" cy="2279785"/>
          </a:xfrm>
          <a:custGeom>
            <a:avLst/>
            <a:gdLst/>
            <a:ahLst/>
            <a:cxnLst/>
            <a:rect r="r" b="b" t="t" l="l"/>
            <a:pathLst>
              <a:path h="2279785" w="4057475">
                <a:moveTo>
                  <a:pt x="0" y="0"/>
                </a:moveTo>
                <a:lnTo>
                  <a:pt x="4057475" y="0"/>
                </a:lnTo>
                <a:lnTo>
                  <a:pt x="4057475" y="2279785"/>
                </a:lnTo>
                <a:lnTo>
                  <a:pt x="0" y="2279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21962" y="3677628"/>
            <a:ext cx="4109456" cy="2434712"/>
          </a:xfrm>
          <a:custGeom>
            <a:avLst/>
            <a:gdLst/>
            <a:ahLst/>
            <a:cxnLst/>
            <a:rect r="r" b="b" t="t" l="l"/>
            <a:pathLst>
              <a:path h="2434712" w="4109456">
                <a:moveTo>
                  <a:pt x="0" y="0"/>
                </a:moveTo>
                <a:lnTo>
                  <a:pt x="4109457" y="0"/>
                </a:lnTo>
                <a:lnTo>
                  <a:pt x="4109457" y="2434712"/>
                </a:lnTo>
                <a:lnTo>
                  <a:pt x="0" y="2434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13" id="13"/>
          <p:cNvSpPr txBox="true"/>
          <p:nvPr/>
        </p:nvSpPr>
        <p:spPr>
          <a:xfrm rot="0">
            <a:off x="5086350" y="719557"/>
            <a:ext cx="811530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Aplicações na Informática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5239" y="4983480"/>
            <a:ext cx="7300657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Ot</a:t>
            </a: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imização de redes de computadores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locação de recursos em servidores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Machine Learning (ex.: SVM)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Planeamento de tarefas</a:t>
            </a:r>
          </a:p>
          <a:p>
            <a:pPr algn="l" marL="582932" indent="-291466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Gestão de bases de dados</a:t>
            </a:r>
          </a:p>
          <a:p>
            <a:pPr algn="l" marL="0" indent="0" lvl="1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4086" y="6838794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6" y="0"/>
                </a:lnTo>
                <a:lnTo>
                  <a:pt x="3318416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850178" y="7144356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7" y="0"/>
                </a:lnTo>
                <a:lnTo>
                  <a:pt x="3318417" y="3318417"/>
                </a:lnTo>
                <a:lnTo>
                  <a:pt x="0" y="3318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880535" y="2538071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880535" y="2134618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880535" y="1645067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>
            <a:off x="14141438" y="7422689"/>
            <a:ext cx="2129265" cy="2129265"/>
          </a:xfrm>
          <a:prstGeom prst="line">
            <a:avLst/>
          </a:prstGeom>
          <a:ln cap="flat" w="95250">
            <a:solidFill>
              <a:srgbClr val="24242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true" rot="0">
            <a:off x="15322564" y="7741157"/>
            <a:ext cx="4849741" cy="4832106"/>
          </a:xfrm>
          <a:custGeom>
            <a:avLst/>
            <a:gdLst/>
            <a:ahLst/>
            <a:cxnLst/>
            <a:rect r="r" b="b" t="t" l="l"/>
            <a:pathLst>
              <a:path h="4832106" w="4849741">
                <a:moveTo>
                  <a:pt x="0" y="4832106"/>
                </a:moveTo>
                <a:lnTo>
                  <a:pt x="4849742" y="4832106"/>
                </a:lnTo>
                <a:lnTo>
                  <a:pt x="4849742" y="0"/>
                </a:lnTo>
                <a:lnTo>
                  <a:pt x="0" y="0"/>
                </a:lnTo>
                <a:lnTo>
                  <a:pt x="0" y="4832106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-445897" y="7875134"/>
            <a:ext cx="2759425" cy="275942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0">
            <a:off x="15322564" y="-1478480"/>
            <a:ext cx="4506102" cy="4506102"/>
          </a:xfrm>
          <a:custGeom>
            <a:avLst/>
            <a:gdLst/>
            <a:ahLst/>
            <a:cxnLst/>
            <a:rect r="r" b="b" t="t" l="l"/>
            <a:pathLst>
              <a:path h="4506102" w="4506102">
                <a:moveTo>
                  <a:pt x="0" y="4506102"/>
                </a:moveTo>
                <a:lnTo>
                  <a:pt x="4506102" y="4506102"/>
                </a:lnTo>
                <a:lnTo>
                  <a:pt x="4506102" y="0"/>
                </a:lnTo>
                <a:lnTo>
                  <a:pt x="0" y="0"/>
                </a:lnTo>
                <a:lnTo>
                  <a:pt x="0" y="4506102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3367509" y="356752"/>
            <a:ext cx="5843225" cy="6172200"/>
          </a:xfrm>
          <a:custGeom>
            <a:avLst/>
            <a:gdLst/>
            <a:ahLst/>
            <a:cxnLst/>
            <a:rect r="r" b="b" t="t" l="l"/>
            <a:pathLst>
              <a:path h="6172200" w="5843225">
                <a:moveTo>
                  <a:pt x="0" y="0"/>
                </a:moveTo>
                <a:lnTo>
                  <a:pt x="5843225" y="0"/>
                </a:lnTo>
                <a:lnTo>
                  <a:pt x="584322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83614" y="5386623"/>
            <a:ext cx="3132515" cy="4053843"/>
          </a:xfrm>
          <a:custGeom>
            <a:avLst/>
            <a:gdLst/>
            <a:ahLst/>
            <a:cxnLst/>
            <a:rect r="r" b="b" t="t" l="l"/>
            <a:pathLst>
              <a:path h="4053843" w="3132515">
                <a:moveTo>
                  <a:pt x="0" y="0"/>
                </a:moveTo>
                <a:lnTo>
                  <a:pt x="3132515" y="0"/>
                </a:lnTo>
                <a:lnTo>
                  <a:pt x="3132515" y="4053843"/>
                </a:lnTo>
                <a:lnTo>
                  <a:pt x="0" y="40538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321813" y="2460346"/>
            <a:ext cx="1000752" cy="970729"/>
          </a:xfrm>
          <a:custGeom>
            <a:avLst/>
            <a:gdLst/>
            <a:ahLst/>
            <a:cxnLst/>
            <a:rect r="r" b="b" t="t" l="l"/>
            <a:pathLst>
              <a:path h="970729" w="1000752">
                <a:moveTo>
                  <a:pt x="0" y="0"/>
                </a:moveTo>
                <a:lnTo>
                  <a:pt x="1000751" y="0"/>
                </a:lnTo>
                <a:lnTo>
                  <a:pt x="1000751" y="970729"/>
                </a:lnTo>
                <a:lnTo>
                  <a:pt x="0" y="9707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true" flipV="false" rot="5400000">
            <a:off x="15514931" y="3890107"/>
            <a:ext cx="2177011" cy="2238048"/>
          </a:xfrm>
          <a:custGeom>
            <a:avLst/>
            <a:gdLst/>
            <a:ahLst/>
            <a:cxnLst/>
            <a:rect r="r" b="b" t="t" l="l"/>
            <a:pathLst>
              <a:path h="2238048" w="2177011">
                <a:moveTo>
                  <a:pt x="2177011" y="0"/>
                </a:moveTo>
                <a:lnTo>
                  <a:pt x="0" y="0"/>
                </a:lnTo>
                <a:lnTo>
                  <a:pt x="0" y="2238049"/>
                </a:lnTo>
                <a:lnTo>
                  <a:pt x="2177011" y="2238049"/>
                </a:lnTo>
                <a:lnTo>
                  <a:pt x="2177011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4670316" y="2481056"/>
            <a:ext cx="8947368" cy="5303764"/>
            <a:chOff x="0" y="0"/>
            <a:chExt cx="834594" cy="494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4594" cy="494725"/>
            </a:xfrm>
            <a:custGeom>
              <a:avLst/>
              <a:gdLst/>
              <a:ahLst/>
              <a:cxnLst/>
              <a:rect r="r" b="b" t="t" l="l"/>
              <a:pathLst>
                <a:path h="494725" w="834594">
                  <a:moveTo>
                    <a:pt x="0" y="0"/>
                  </a:moveTo>
                  <a:lnTo>
                    <a:pt x="834594" y="0"/>
                  </a:lnTo>
                  <a:lnTo>
                    <a:pt x="834594" y="494725"/>
                  </a:lnTo>
                  <a:lnTo>
                    <a:pt x="0" y="494725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34594" cy="54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19"/>
                </a:lnSpc>
              </a:pPr>
            </a:p>
            <a:p>
              <a:pPr algn="l">
                <a:lnSpc>
                  <a:spcPts val="3509"/>
                </a:lnSpc>
              </a:pPr>
              <a:r>
                <a:rPr lang="en-US" sz="26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 Programação Linear é uma ferramenta matemáti</a:t>
              </a:r>
              <a:r>
                <a:rPr lang="en-US" sz="26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ca muito importante para resolver problemas de otimização.</a:t>
              </a:r>
            </a:p>
            <a:p>
              <a:pPr algn="l">
                <a:lnSpc>
                  <a:spcPts val="3509"/>
                </a:lnSpc>
              </a:pPr>
              <a:r>
                <a:rPr lang="en-US" sz="26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Permite:</a:t>
              </a:r>
            </a:p>
            <a:p>
              <a:pPr algn="l" marL="582927" indent="-291463" lvl="1">
                <a:lnSpc>
                  <a:spcPts val="350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Tomar decisões mais eficientes</a:t>
              </a:r>
            </a:p>
            <a:p>
              <a:pPr algn="l" marL="582927" indent="-291463" lvl="1">
                <a:lnSpc>
                  <a:spcPts val="350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Utilizar melhor os recursos disponíveis</a:t>
              </a:r>
            </a:p>
            <a:p>
              <a:pPr algn="l" marL="582927" indent="-291463" lvl="1">
                <a:lnSpc>
                  <a:spcPts val="350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Maximizar lucros ou minimizar custos</a:t>
              </a:r>
            </a:p>
            <a:p>
              <a:pPr algn="l">
                <a:lnSpc>
                  <a:spcPts val="3509"/>
                </a:lnSpc>
              </a:pPr>
              <a:r>
                <a:rPr lang="en-US" sz="26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Este método é amplamente utilizado em áreas como economia, indústria, transportes e informática.</a:t>
              </a:r>
            </a:p>
            <a:p>
              <a:pPr algn="l">
                <a:lnSpc>
                  <a:spcPts val="402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086350" y="719557"/>
            <a:ext cx="81153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Conclusão</a:t>
            </a:r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4086" y="6838794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6" y="0"/>
                </a:lnTo>
                <a:lnTo>
                  <a:pt x="3318416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850178" y="7144356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7" y="0"/>
                </a:lnTo>
                <a:lnTo>
                  <a:pt x="3318417" y="3318417"/>
                </a:lnTo>
                <a:lnTo>
                  <a:pt x="0" y="3318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880535" y="2538071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880535" y="2134618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880535" y="1645067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>
            <a:off x="14141438" y="7422689"/>
            <a:ext cx="2129265" cy="2129265"/>
          </a:xfrm>
          <a:prstGeom prst="line">
            <a:avLst/>
          </a:prstGeom>
          <a:ln cap="flat" w="95250">
            <a:solidFill>
              <a:srgbClr val="24242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true" rot="0">
            <a:off x="15322564" y="7741157"/>
            <a:ext cx="4849741" cy="4832106"/>
          </a:xfrm>
          <a:custGeom>
            <a:avLst/>
            <a:gdLst/>
            <a:ahLst/>
            <a:cxnLst/>
            <a:rect r="r" b="b" t="t" l="l"/>
            <a:pathLst>
              <a:path h="4832106" w="4849741">
                <a:moveTo>
                  <a:pt x="0" y="4832106"/>
                </a:moveTo>
                <a:lnTo>
                  <a:pt x="4849742" y="4832106"/>
                </a:lnTo>
                <a:lnTo>
                  <a:pt x="4849742" y="0"/>
                </a:lnTo>
                <a:lnTo>
                  <a:pt x="0" y="0"/>
                </a:lnTo>
                <a:lnTo>
                  <a:pt x="0" y="4832106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-445897" y="7875134"/>
            <a:ext cx="2759425" cy="275942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0">
            <a:off x="15322564" y="-1478480"/>
            <a:ext cx="4506102" cy="4506102"/>
          </a:xfrm>
          <a:custGeom>
            <a:avLst/>
            <a:gdLst/>
            <a:ahLst/>
            <a:cxnLst/>
            <a:rect r="r" b="b" t="t" l="l"/>
            <a:pathLst>
              <a:path h="4506102" w="4506102">
                <a:moveTo>
                  <a:pt x="0" y="4506102"/>
                </a:moveTo>
                <a:lnTo>
                  <a:pt x="4506102" y="4506102"/>
                </a:lnTo>
                <a:lnTo>
                  <a:pt x="4506102" y="0"/>
                </a:lnTo>
                <a:lnTo>
                  <a:pt x="0" y="0"/>
                </a:lnTo>
                <a:lnTo>
                  <a:pt x="0" y="4506102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3367509" y="356752"/>
            <a:ext cx="5843225" cy="6172200"/>
          </a:xfrm>
          <a:custGeom>
            <a:avLst/>
            <a:gdLst/>
            <a:ahLst/>
            <a:cxnLst/>
            <a:rect r="r" b="b" t="t" l="l"/>
            <a:pathLst>
              <a:path h="6172200" w="5843225">
                <a:moveTo>
                  <a:pt x="0" y="0"/>
                </a:moveTo>
                <a:lnTo>
                  <a:pt x="5843225" y="0"/>
                </a:lnTo>
                <a:lnTo>
                  <a:pt x="584322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83614" y="5386623"/>
            <a:ext cx="3132515" cy="4053843"/>
          </a:xfrm>
          <a:custGeom>
            <a:avLst/>
            <a:gdLst/>
            <a:ahLst/>
            <a:cxnLst/>
            <a:rect r="r" b="b" t="t" l="l"/>
            <a:pathLst>
              <a:path h="4053843" w="3132515">
                <a:moveTo>
                  <a:pt x="0" y="0"/>
                </a:moveTo>
                <a:lnTo>
                  <a:pt x="3132515" y="0"/>
                </a:lnTo>
                <a:lnTo>
                  <a:pt x="3132515" y="4053843"/>
                </a:lnTo>
                <a:lnTo>
                  <a:pt x="0" y="40538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321813" y="2460346"/>
            <a:ext cx="1000752" cy="970729"/>
          </a:xfrm>
          <a:custGeom>
            <a:avLst/>
            <a:gdLst/>
            <a:ahLst/>
            <a:cxnLst/>
            <a:rect r="r" b="b" t="t" l="l"/>
            <a:pathLst>
              <a:path h="970729" w="1000752">
                <a:moveTo>
                  <a:pt x="0" y="0"/>
                </a:moveTo>
                <a:lnTo>
                  <a:pt x="1000751" y="0"/>
                </a:lnTo>
                <a:lnTo>
                  <a:pt x="1000751" y="970729"/>
                </a:lnTo>
                <a:lnTo>
                  <a:pt x="0" y="9707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true" flipV="false" rot="5400000">
            <a:off x="15514931" y="3890107"/>
            <a:ext cx="2177011" cy="2238048"/>
          </a:xfrm>
          <a:custGeom>
            <a:avLst/>
            <a:gdLst/>
            <a:ahLst/>
            <a:cxnLst/>
            <a:rect r="r" b="b" t="t" l="l"/>
            <a:pathLst>
              <a:path h="2238048" w="2177011">
                <a:moveTo>
                  <a:pt x="2177011" y="0"/>
                </a:moveTo>
                <a:lnTo>
                  <a:pt x="0" y="0"/>
                </a:lnTo>
                <a:lnTo>
                  <a:pt x="0" y="2238049"/>
                </a:lnTo>
                <a:lnTo>
                  <a:pt x="2177011" y="2238049"/>
                </a:lnTo>
                <a:lnTo>
                  <a:pt x="2177011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5086350" y="282323"/>
            <a:ext cx="81153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Bibliografia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86350" y="1420813"/>
            <a:ext cx="8115300" cy="810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1) Nobel Prize – Leonid Kantorovich (informação histórica e contributos para a Programação Linear)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https://www.nobelprize.org/prizes/economic-sciences/1975/kantorovich/facts/ (nobelprize.org in Bing)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Esta fonte cobre: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Quem foi Kantorovich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 seu papel na Programação Linear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 importância do seu trabalho na otimização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Reconhecimento oficial (Prémio Nobel)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2) Wikipédia – Programação Linear (informação geral + Dantzig + von Neumann)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https://pt.wikipedia.org/wiki/Programa%C3%A7%C3%A3o_linear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Esta página inclui: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Definição de Programação Linear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Função objetivo, restrições, região admissível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Teorema Fundamental da Programação Linear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História da PL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Contributos de George Dantzig (Método Simplex)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Contributos de John von Neumann (dualidade e teoria matemática)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4086" y="6838794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6" y="0"/>
                </a:lnTo>
                <a:lnTo>
                  <a:pt x="3318416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850178" y="7144356"/>
            <a:ext cx="3318416" cy="3318416"/>
          </a:xfrm>
          <a:custGeom>
            <a:avLst/>
            <a:gdLst/>
            <a:ahLst/>
            <a:cxnLst/>
            <a:rect r="r" b="b" t="t" l="l"/>
            <a:pathLst>
              <a:path h="3318416" w="3318416">
                <a:moveTo>
                  <a:pt x="0" y="0"/>
                </a:moveTo>
                <a:lnTo>
                  <a:pt x="3318417" y="0"/>
                </a:lnTo>
                <a:lnTo>
                  <a:pt x="3318417" y="3318417"/>
                </a:lnTo>
                <a:lnTo>
                  <a:pt x="0" y="3318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880535" y="2538071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880535" y="2134618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880535" y="1645067"/>
            <a:ext cx="1786008" cy="1786008"/>
          </a:xfrm>
          <a:custGeom>
            <a:avLst/>
            <a:gdLst/>
            <a:ahLst/>
            <a:cxnLst/>
            <a:rect r="r" b="b" t="t" l="l"/>
            <a:pathLst>
              <a:path h="1786008" w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>
            <a:off x="14141438" y="7422689"/>
            <a:ext cx="2129265" cy="2129265"/>
          </a:xfrm>
          <a:prstGeom prst="line">
            <a:avLst/>
          </a:prstGeom>
          <a:ln cap="flat" w="95250">
            <a:solidFill>
              <a:srgbClr val="24242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true" rot="0">
            <a:off x="15322564" y="7741157"/>
            <a:ext cx="4849741" cy="4832106"/>
          </a:xfrm>
          <a:custGeom>
            <a:avLst/>
            <a:gdLst/>
            <a:ahLst/>
            <a:cxnLst/>
            <a:rect r="r" b="b" t="t" l="l"/>
            <a:pathLst>
              <a:path h="4832106" w="4849741">
                <a:moveTo>
                  <a:pt x="0" y="4832106"/>
                </a:moveTo>
                <a:lnTo>
                  <a:pt x="4849742" y="4832106"/>
                </a:lnTo>
                <a:lnTo>
                  <a:pt x="4849742" y="0"/>
                </a:lnTo>
                <a:lnTo>
                  <a:pt x="0" y="0"/>
                </a:lnTo>
                <a:lnTo>
                  <a:pt x="0" y="4832106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-445897" y="7875134"/>
            <a:ext cx="2759425" cy="275942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0">
            <a:off x="15322564" y="-1478480"/>
            <a:ext cx="4506102" cy="4506102"/>
          </a:xfrm>
          <a:custGeom>
            <a:avLst/>
            <a:gdLst/>
            <a:ahLst/>
            <a:cxnLst/>
            <a:rect r="r" b="b" t="t" l="l"/>
            <a:pathLst>
              <a:path h="4506102" w="4506102">
                <a:moveTo>
                  <a:pt x="0" y="4506102"/>
                </a:moveTo>
                <a:lnTo>
                  <a:pt x="4506102" y="4506102"/>
                </a:lnTo>
                <a:lnTo>
                  <a:pt x="4506102" y="0"/>
                </a:lnTo>
                <a:lnTo>
                  <a:pt x="0" y="0"/>
                </a:lnTo>
                <a:lnTo>
                  <a:pt x="0" y="4506102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3367509" y="356752"/>
            <a:ext cx="5843225" cy="6172200"/>
          </a:xfrm>
          <a:custGeom>
            <a:avLst/>
            <a:gdLst/>
            <a:ahLst/>
            <a:cxnLst/>
            <a:rect r="r" b="b" t="t" l="l"/>
            <a:pathLst>
              <a:path h="6172200" w="5843225">
                <a:moveTo>
                  <a:pt x="0" y="0"/>
                </a:moveTo>
                <a:lnTo>
                  <a:pt x="5843225" y="0"/>
                </a:lnTo>
                <a:lnTo>
                  <a:pt x="584322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83614" y="5386623"/>
            <a:ext cx="3132515" cy="4053843"/>
          </a:xfrm>
          <a:custGeom>
            <a:avLst/>
            <a:gdLst/>
            <a:ahLst/>
            <a:cxnLst/>
            <a:rect r="r" b="b" t="t" l="l"/>
            <a:pathLst>
              <a:path h="4053843" w="3132515">
                <a:moveTo>
                  <a:pt x="0" y="0"/>
                </a:moveTo>
                <a:lnTo>
                  <a:pt x="3132515" y="0"/>
                </a:lnTo>
                <a:lnTo>
                  <a:pt x="3132515" y="4053843"/>
                </a:lnTo>
                <a:lnTo>
                  <a:pt x="0" y="40538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321813" y="2460346"/>
            <a:ext cx="1000752" cy="970729"/>
          </a:xfrm>
          <a:custGeom>
            <a:avLst/>
            <a:gdLst/>
            <a:ahLst/>
            <a:cxnLst/>
            <a:rect r="r" b="b" t="t" l="l"/>
            <a:pathLst>
              <a:path h="970729" w="1000752">
                <a:moveTo>
                  <a:pt x="0" y="0"/>
                </a:moveTo>
                <a:lnTo>
                  <a:pt x="1000751" y="0"/>
                </a:lnTo>
                <a:lnTo>
                  <a:pt x="1000751" y="970729"/>
                </a:lnTo>
                <a:lnTo>
                  <a:pt x="0" y="9707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true" flipV="false" rot="5400000">
            <a:off x="15514931" y="3890107"/>
            <a:ext cx="2177011" cy="2238048"/>
          </a:xfrm>
          <a:custGeom>
            <a:avLst/>
            <a:gdLst/>
            <a:ahLst/>
            <a:cxnLst/>
            <a:rect r="r" b="b" t="t" l="l"/>
            <a:pathLst>
              <a:path h="2238048" w="2177011">
                <a:moveTo>
                  <a:pt x="2177011" y="0"/>
                </a:moveTo>
                <a:lnTo>
                  <a:pt x="0" y="0"/>
                </a:lnTo>
                <a:lnTo>
                  <a:pt x="0" y="2238049"/>
                </a:lnTo>
                <a:lnTo>
                  <a:pt x="2177011" y="2238049"/>
                </a:lnTo>
                <a:lnTo>
                  <a:pt x="2177011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5086350" y="4424598"/>
            <a:ext cx="81153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b="true" sz="1200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Obrigado!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DAHDp7tfyBo</dc:identifier>
  <dcterms:modified xsi:type="dcterms:W3CDTF">2011-08-01T06:04:30Z</dcterms:modified>
  <cp:revision>1</cp:revision>
  <dc:title>Inspirado por</dc:title>
</cp:coreProperties>
</file>